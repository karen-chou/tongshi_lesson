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0597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126187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3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人工智能在复杂系统中的应用现状及其经济价值评估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768096" y="2395728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D7D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模型分析与课堂汇报材料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8096" y="54681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周祺伦</a:t>
            </a:r>
            <a:r>
              <a:rPr lang="en-US" sz="12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067、贾智勇 066、马睿 068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68096" y="2962656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从应用成熟度、经济机制、趋势预测和资源优化四个层面展开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652760" y="647395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</a:rPr>
              <a:t>AI复杂系统调研 | 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303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D7D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BACKGROUND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研究问题：AI为何是复杂系统的关键变量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353312"/>
            <a:ext cx="11064240" cy="0"/>
          </a:xfrm>
          <a:prstGeom prst="line">
            <a:avLst/>
          </a:prstGeom>
          <a:noFill/>
          <a:ln w="15240">
            <a:solidFill>
              <a:srgbClr val="D9E2F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627632"/>
            <a:ext cx="4937760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6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复杂系统具有多主体、多变量、强反馈和高不确定性特征</a:t>
            </a:r>
            <a:endParaRPr lang="en-US" sz="1600" dirty="0"/>
          </a:p>
          <a:p>
            <a:r>
              <a:rPr lang="en-US" sz="16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AI可以同时作用于感知、预测、决策和执行，形成闭环优化</a:t>
            </a:r>
            <a:endParaRPr lang="en-US" sz="1600" dirty="0"/>
          </a:p>
          <a:p>
            <a:r>
              <a:rPr lang="en-US" sz="16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本研究关注：应用成熟度如何测度、经济价值如何产生、未来趋势如何预测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930153" y="1874520"/>
            <a:ext cx="1280160" cy="777240"/>
          </a:xfrm>
          <a:prstGeom prst="chevron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84227" y="1874520"/>
            <a:ext cx="1280160" cy="777240"/>
          </a:xfrm>
          <a:prstGeom prst="chevron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65195" y="1874520"/>
            <a:ext cx="1280160" cy="777240"/>
          </a:xfrm>
          <a:prstGeom prst="chevron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37376" y="211226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900416" y="211226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363456" y="211226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172200" y="3218688"/>
            <a:ext cx="4663440" cy="7498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研究结论：AI的价值不只是自动化降本，而是提升复杂系统中的决策质量和资源配置效率。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652760" y="647395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</a:rPr>
              <a:t>AI复杂系统调研 |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303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D7D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EVIDENCE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全球扩散：应用快，但价值兑现需要组织重构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353312"/>
            <a:ext cx="11064240" cy="0"/>
          </a:xfrm>
          <a:prstGeom prst="line">
            <a:avLst/>
          </a:prstGeom>
          <a:noFill/>
          <a:ln w="15240">
            <a:solidFill>
              <a:srgbClr val="D9E2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69164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3F6FA"/>
          </a:solidFill>
          <a:ln w="12700">
            <a:solidFill>
              <a:srgbClr val="E3EA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83794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4472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78%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886968" y="2313432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组织AI使用率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2587752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Stanford AI Index 2025：2024年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80560" y="169164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3F6FA"/>
          </a:solidFill>
          <a:ln w="12700">
            <a:solidFill>
              <a:srgbClr val="E3EA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183794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70AD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88%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4681728" y="2313432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组织常规使用AI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81728" y="2587752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McKinsey 2025全球调查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275320" y="169164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3F6FA"/>
          </a:solidFill>
          <a:ln w="12700">
            <a:solidFill>
              <a:srgbClr val="E3EAF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58200" y="183794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ED7D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39%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8476488" y="2313432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报告企业层面EBIT影响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476488" y="2587752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McKinsey：价值兑现仍不充分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60120" y="3474720"/>
            <a:ext cx="987552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AI从实验性工具进入业务职能，但规模化收益仍依赖数据治理和流程再设计</a:t>
            </a:r>
            <a:endParaRPr lang="en-US" sz="1500" dirty="0"/>
          </a:p>
          <a:p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美国、中国、英国是AI私人投资主要集中地，生成式AI投资继续增长</a:t>
            </a:r>
            <a:endParaRPr lang="en-US" sz="1500" dirty="0"/>
          </a:p>
          <a:p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课堂调研应区分“采用率提升”和“经济价值兑现”两个概念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652760" y="647395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</a:rPr>
              <a:t>AI复杂系统调研 |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303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D7D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MEASUREMENT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行业成熟度：金融科技与先进制造领先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353312"/>
            <a:ext cx="11064240" cy="0"/>
          </a:xfrm>
          <a:prstGeom prst="line">
            <a:avLst/>
          </a:prstGeom>
          <a:noFill/>
          <a:ln w="15240">
            <a:solidFill>
              <a:srgbClr val="D9E2F3"/>
            </a:solidFill>
            <a:prstDash val="solid"/>
          </a:ln>
        </p:spPr>
      </p:sp>
      <p:pic>
        <p:nvPicPr>
          <p:cNvPr id="6" name="Image 0" descr="C:\Karen\tongshi_lesson\outputs\ai_complex_systems_materials\charts\industry_ai_ind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1600200"/>
            <a:ext cx="644652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62672" y="1755648"/>
            <a:ext cx="3611880" cy="3063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35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综合指数由渗透率、投资强度、数据可得性、利润改善潜力和社会影响权重加权得到</a:t>
            </a:r>
            <a:endParaRPr lang="en-US" sz="1350" dirty="0"/>
          </a:p>
          <a:p>
            <a:r>
              <a:rPr lang="en-US" sz="135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金融科技和先进制造数据闭环清晰，更容易形成可量化收益</a:t>
            </a:r>
            <a:endParaRPr lang="en-US" sz="1350" dirty="0"/>
          </a:p>
          <a:p>
            <a:r>
              <a:rPr lang="en-US" sz="135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气象环境、医疗健康社会价值高，但合规、安全和责任边界更复杂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0652760" y="647395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</a:rPr>
              <a:t>AI复杂系统调研 |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303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D7D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模型框架：从特征识别到资源配置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353312"/>
            <a:ext cx="11064240" cy="0"/>
          </a:xfrm>
          <a:prstGeom prst="line">
            <a:avLst/>
          </a:prstGeom>
          <a:noFill/>
          <a:ln w="15240">
            <a:solidFill>
              <a:srgbClr val="D9E2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1828800"/>
            <a:ext cx="233172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 w="12700">
            <a:solidFill>
              <a:srgbClr val="D8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20574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数据层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32688" y="2596896"/>
            <a:ext cx="1901952" cy="7498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行业渗透率、投资、生产率、利润率、人才结构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 rot="5400000">
            <a:off x="3163824" y="2596896"/>
            <a:ext cx="256032" cy="256032"/>
          </a:xfrm>
          <a:prstGeom prst="triangle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02152" y="1828800"/>
            <a:ext cx="2331720" cy="1920240"/>
          </a:xfrm>
          <a:prstGeom prst="roundRect">
            <a:avLst>
              <a:gd name="adj" fmla="val 3810"/>
            </a:avLst>
          </a:prstGeom>
          <a:solidFill>
            <a:srgbClr val="F2F7EE"/>
          </a:solidFill>
          <a:ln w="12700">
            <a:solidFill>
              <a:srgbClr val="D8E4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66744" y="20574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随机森林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721608" y="2596896"/>
            <a:ext cx="1901952" cy="7498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识别影响经济增长与利润改善的关键特征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 rot="5400000">
            <a:off x="5952744" y="2596896"/>
            <a:ext cx="256032" cy="256032"/>
          </a:xfrm>
          <a:prstGeom prst="triangle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91072" y="1828800"/>
            <a:ext cx="233172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 w="12700">
            <a:solidFill>
              <a:srgbClr val="D8E4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55664" y="20574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MCMC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510528" y="2596896"/>
            <a:ext cx="1901952" cy="7498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模拟采用率和生产率贡献的不确定路径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 rot="5400000">
            <a:off x="8741664" y="2596896"/>
            <a:ext cx="256032" cy="256032"/>
          </a:xfrm>
          <a:prstGeom prst="triangle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9992" y="1828800"/>
            <a:ext cx="2331720" cy="1920240"/>
          </a:xfrm>
          <a:prstGeom prst="roundRect">
            <a:avLst>
              <a:gd name="adj" fmla="val 3810"/>
            </a:avLst>
          </a:prstGeom>
          <a:solidFill>
            <a:srgbClr val="F2F7EE"/>
          </a:solidFill>
          <a:ln w="12700">
            <a:solidFill>
              <a:srgbClr val="D8E4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44584" y="20574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LP / CP-SAT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299448" y="2596896"/>
            <a:ext cx="1901952" cy="7498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在预算、算力、人才约束下选择项目组合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15568" y="46177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目标函数：Max Σ(valueᵢ × xᵢ)，约束预算、算力、人才、风险阈值和公共服务覆盖。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652760" y="647395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</a:rPr>
              <a:t>AI复杂系统调研 |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303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D7D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FORECAST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趋势预测：2030年产出指数在三种情景下显著分化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353312"/>
            <a:ext cx="11064240" cy="0"/>
          </a:xfrm>
          <a:prstGeom prst="line">
            <a:avLst/>
          </a:prstGeom>
          <a:noFill/>
          <a:ln w="15240">
            <a:solidFill>
              <a:srgbClr val="D9E2F3"/>
            </a:solidFill>
            <a:prstDash val="solid"/>
          </a:ln>
        </p:spPr>
      </p:sp>
      <p:pic>
        <p:nvPicPr>
          <p:cNvPr id="6" name="Image 0" descr="C:\Karen\tongshi_lesson\outputs\ai_complex_systems_materials\charts\scenario_output_ind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572768"/>
            <a:ext cx="6583680" cy="3749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99248" y="1755648"/>
            <a:ext cx="347472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4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保守情景：采用率和流程重构不足，2030指数约121.7</a:t>
            </a:r>
            <a:endParaRPr lang="en-US" sz="1400" dirty="0"/>
          </a:p>
          <a:p>
            <a:r>
              <a:rPr lang="en-US" sz="14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基准情景：多数行业完成规模化部署，2030指数约135.2</a:t>
            </a:r>
            <a:endParaRPr lang="en-US" sz="1400" dirty="0"/>
          </a:p>
          <a:p>
            <a:r>
              <a:rPr lang="en-US" sz="14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积极情景：智能体和行业模型成熟，2030指数约154.4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0652760" y="647395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</a:rPr>
              <a:t>AI复杂系统调研 |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303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D7D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LABOR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劳动力影响：岗位替代与岗位创造同时发生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353312"/>
            <a:ext cx="11064240" cy="0"/>
          </a:xfrm>
          <a:prstGeom prst="line">
            <a:avLst/>
          </a:prstGeom>
          <a:noFill/>
          <a:ln w="15240">
            <a:solidFill>
              <a:srgbClr val="D9E2F3"/>
            </a:solidFill>
            <a:prstDash val="solid"/>
          </a:ln>
        </p:spPr>
      </p:sp>
      <p:pic>
        <p:nvPicPr>
          <p:cNvPr id="6" name="Image 0" descr="C:\Karen\tongshi_lesson\outputs\ai_complex_systems_materials\charts\jobs_imp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600200"/>
            <a:ext cx="6126480" cy="3429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60920" y="1737360"/>
            <a:ext cx="365760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4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WEF估计AI与信息处理技术到2030年创造1100万个岗位、替代900万个岗位</a:t>
            </a:r>
            <a:endParaRPr lang="en-US" sz="1400" dirty="0"/>
          </a:p>
          <a:p>
            <a:r>
              <a:rPr lang="en-US" sz="14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真正变化的是任务结构：重复任务减少，分析、协作、AI管理类任务增加</a:t>
            </a:r>
            <a:endParaRPr lang="en-US" sz="1400" dirty="0"/>
          </a:p>
          <a:p>
            <a:r>
              <a:rPr lang="en-US" sz="14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政策与企业管理重点应放在再培训、数据治理和责任边界上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0652760" y="647395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</a:rPr>
              <a:t>AI复杂系统调研 |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303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D7D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CONCLUSION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结论：AI经济价值来自技术与组织的乘积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353312"/>
            <a:ext cx="11064240" cy="0"/>
          </a:xfrm>
          <a:prstGeom prst="line">
            <a:avLst/>
          </a:prstGeom>
          <a:noFill/>
          <a:ln w="15240">
            <a:solidFill>
              <a:srgbClr val="D9E2F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19072"/>
            <a:ext cx="996696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AI价值 = 技术能力 × 数据基础 × 流程重构 × 人才适配</a:t>
            </a:r>
            <a:endParaRPr lang="en-US" sz="1700" dirty="0"/>
          </a:p>
          <a:p>
            <a:r>
              <a:rPr lang="en-US" sz="1700" dirty="0" err="1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短期商业价值：先进制造、金融科技；长期社会价值：气象环境、医疗健康、教育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14400" y="4983480"/>
            <a:ext cx="9966960" cy="65836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70432" y="5138928"/>
            <a:ext cx="9454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核心判断：不要只问AI能替代什么，更要问AI如何重构复杂系统的决策闭环。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652760" y="647395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</a:rPr>
              <a:t>AI复杂系统调研 | 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309</Words>
  <Application>Microsoft Office PowerPoint</Application>
  <PresentationFormat>宽屏</PresentationFormat>
  <Paragraphs>74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1" baseType="lpstr">
      <vt:lpstr>Microsoft YaHei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课程调研小组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人工智能复杂系统调研展示</dc:title>
  <dc:subject>人工智能在复杂系统中的应用现状及经济价值评估</dc:subject>
  <dc:creator>Codex</dc:creator>
  <cp:lastModifiedBy>Karen Chou</cp:lastModifiedBy>
  <cp:revision>2</cp:revision>
  <dcterms:created xsi:type="dcterms:W3CDTF">2026-05-24T05:57:36Z</dcterms:created>
  <dcterms:modified xsi:type="dcterms:W3CDTF">2026-05-24T13:42:31Z</dcterms:modified>
</cp:coreProperties>
</file>